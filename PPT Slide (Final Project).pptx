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Heebo Light" panose="020B0604020202020204" charset="-79"/>
      <p:regular r:id="rId21"/>
    </p:embeddedFont>
    <p:embeddedFont>
      <p:font typeface="Montserrat" panose="020B0604020202020204" charset="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B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8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426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78459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Departmental Store Billing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57703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Object-Oriented Programming — Final Project Presentation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998738"/>
            <a:ext cx="4722763" cy="17711"/>
          </a:xfrm>
          <a:prstGeom prst="roundRect">
            <a:avLst>
              <a:gd name="adj" fmla="val 336188"/>
            </a:avLst>
          </a:prstGeom>
          <a:solidFill>
            <a:srgbClr val="DCD7E5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96119" y="3211339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Presented By:</a:t>
            </a: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Tahir Noor · Reg. No. 2025-CYS-170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Department of Computer Engineering · UET Lahore · 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398859"/>
            <a:ext cx="1161157" cy="253901"/>
          </a:xfrm>
          <a:prstGeom prst="roundRect">
            <a:avLst>
              <a:gd name="adj" fmla="val 17588"/>
            </a:avLst>
          </a:prstGeom>
          <a:noFill/>
          <a:ln w="4763">
            <a:solidFill>
              <a:srgbClr val="481C9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80579" y="443433"/>
            <a:ext cx="1449437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0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PROJECT OVERVIEW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96119" y="702543"/>
            <a:ext cx="377986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96119" y="1304702"/>
            <a:ext cx="4722763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This project presents a structured, object-oriented billing solution for departmental stores. Manual billing processes are error-prone and inefficient — this system automates transactions, customer management, and receipt generation using core OOP principles.</a:t>
            </a:r>
            <a:endParaRPr lang="en-US" sz="10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9A0FFC1-9897-49D5-899D-03D49131DFEE}"/>
              </a:ext>
            </a:extLst>
          </p:cNvPr>
          <p:cNvGrpSpPr/>
          <p:nvPr/>
        </p:nvGrpSpPr>
        <p:grpSpPr>
          <a:xfrm>
            <a:off x="496119" y="2268736"/>
            <a:ext cx="2299097" cy="1381646"/>
            <a:chOff x="496119" y="2268736"/>
            <a:chExt cx="2299097" cy="1381646"/>
          </a:xfrm>
        </p:grpSpPr>
        <p:sp>
          <p:nvSpPr>
            <p:cNvPr id="7" name="Shape 4"/>
            <p:cNvSpPr/>
            <p:nvPr/>
          </p:nvSpPr>
          <p:spPr>
            <a:xfrm>
              <a:off x="496119" y="2268736"/>
              <a:ext cx="2299097" cy="1381646"/>
            </a:xfrm>
            <a:prstGeom prst="roundRect">
              <a:avLst>
                <a:gd name="adj" fmla="val 4040"/>
              </a:avLst>
            </a:prstGeom>
            <a:solidFill>
              <a:srgbClr val="31136C"/>
            </a:solidFill>
            <a:ln w="4763">
              <a:solidFill>
                <a:srgbClr val="4A2C85"/>
              </a:solidFill>
              <a:prstDash val="solid"/>
            </a:ln>
          </p:spPr>
        </p:sp>
        <p:sp>
          <p:nvSpPr>
            <p:cNvPr id="8" name="Text 5"/>
            <p:cNvSpPr/>
            <p:nvPr/>
          </p:nvSpPr>
          <p:spPr>
            <a:xfrm>
              <a:off x="633785" y="2406402"/>
              <a:ext cx="1661294" cy="2076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300" dirty="0">
                  <a:solidFill>
                    <a:srgbClr val="DCD7E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Problem</a:t>
              </a:r>
              <a:endParaRPr lang="en-US" sz="13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633785" y="2688803"/>
              <a:ext cx="2023765" cy="8239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29000"/>
                </a:lnSpc>
                <a:buNone/>
              </a:pPr>
              <a:r>
                <a:rPr lang="en-US" sz="1000" dirty="0">
                  <a:solidFill>
                    <a:srgbClr val="DCD7E5"/>
                  </a:solidFill>
                  <a:latin typeface="Heebo Light" pitchFamily="34" charset="0"/>
                  <a:ea typeface="Heebo Light" pitchFamily="34" charset="-122"/>
                  <a:cs typeface="Heebo Light" pitchFamily="34" charset="-120"/>
                </a:rPr>
                <a:t>Manual billing introduces calculation errors, delays, and poor record-keeping in retail operations.</a:t>
              </a:r>
              <a:endParaRPr lang="en-US" sz="10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9884197-A3F2-4D51-9DA1-07F39B81D026}"/>
              </a:ext>
            </a:extLst>
          </p:cNvPr>
          <p:cNvGrpSpPr/>
          <p:nvPr/>
        </p:nvGrpSpPr>
        <p:grpSpPr>
          <a:xfrm>
            <a:off x="2919785" y="2268736"/>
            <a:ext cx="2299097" cy="1381646"/>
            <a:chOff x="2919785" y="2268736"/>
            <a:chExt cx="2299097" cy="1381646"/>
          </a:xfrm>
        </p:grpSpPr>
        <p:sp>
          <p:nvSpPr>
            <p:cNvPr id="10" name="Shape 7"/>
            <p:cNvSpPr/>
            <p:nvPr/>
          </p:nvSpPr>
          <p:spPr>
            <a:xfrm>
              <a:off x="2919785" y="2268736"/>
              <a:ext cx="2299097" cy="1381646"/>
            </a:xfrm>
            <a:prstGeom prst="roundRect">
              <a:avLst>
                <a:gd name="adj" fmla="val 4040"/>
              </a:avLst>
            </a:prstGeom>
            <a:solidFill>
              <a:srgbClr val="31136C"/>
            </a:solidFill>
            <a:ln w="4763">
              <a:solidFill>
                <a:srgbClr val="4A2C85"/>
              </a:solidFill>
              <a:prstDash val="solid"/>
            </a:ln>
          </p:spPr>
        </p:sp>
        <p:sp>
          <p:nvSpPr>
            <p:cNvPr id="11" name="Text 8"/>
            <p:cNvSpPr/>
            <p:nvPr/>
          </p:nvSpPr>
          <p:spPr>
            <a:xfrm>
              <a:off x="3057451" y="2406402"/>
              <a:ext cx="1661294" cy="2076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300" dirty="0">
                  <a:solidFill>
                    <a:srgbClr val="DCD7E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Solution</a:t>
              </a:r>
              <a:endParaRPr lang="en-US" sz="13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3057451" y="2688803"/>
              <a:ext cx="2023765" cy="6179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29000"/>
                </a:lnSpc>
                <a:buNone/>
              </a:pPr>
              <a:r>
                <a:rPr lang="en-US" sz="1000" dirty="0">
                  <a:solidFill>
                    <a:srgbClr val="DCD7E5"/>
                  </a:solidFill>
                  <a:latin typeface="Heebo Light" pitchFamily="34" charset="0"/>
                  <a:ea typeface="Heebo Light" pitchFamily="34" charset="-122"/>
                  <a:cs typeface="Heebo Light" pitchFamily="34" charset="-120"/>
                </a:rPr>
                <a:t>A modular, OOP-based billing system with role-based access and automated calculations.</a:t>
              </a:r>
              <a:endParaRPr lang="en-US" sz="10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CDC8CDC-C35E-492E-8A82-BAAA40415922}"/>
              </a:ext>
            </a:extLst>
          </p:cNvPr>
          <p:cNvGrpSpPr/>
          <p:nvPr/>
        </p:nvGrpSpPr>
        <p:grpSpPr>
          <a:xfrm>
            <a:off x="496119" y="3774951"/>
            <a:ext cx="4722763" cy="969690"/>
            <a:chOff x="496119" y="3774951"/>
            <a:chExt cx="4722763" cy="969690"/>
          </a:xfrm>
        </p:grpSpPr>
        <p:sp>
          <p:nvSpPr>
            <p:cNvPr id="13" name="Shape 10"/>
            <p:cNvSpPr/>
            <p:nvPr/>
          </p:nvSpPr>
          <p:spPr>
            <a:xfrm>
              <a:off x="496119" y="3774951"/>
              <a:ext cx="4722763" cy="969690"/>
            </a:xfrm>
            <a:prstGeom prst="roundRect">
              <a:avLst>
                <a:gd name="adj" fmla="val 5757"/>
              </a:avLst>
            </a:prstGeom>
            <a:solidFill>
              <a:srgbClr val="31136C"/>
            </a:solidFill>
            <a:ln w="4763">
              <a:solidFill>
                <a:srgbClr val="4A2C85"/>
              </a:solidFill>
              <a:prstDash val="solid"/>
            </a:ln>
          </p:spPr>
        </p:sp>
        <p:sp>
          <p:nvSpPr>
            <p:cNvPr id="14" name="Text 11"/>
            <p:cNvSpPr/>
            <p:nvPr/>
          </p:nvSpPr>
          <p:spPr>
            <a:xfrm>
              <a:off x="633785" y="3912617"/>
              <a:ext cx="1661294" cy="2076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300" dirty="0">
                  <a:solidFill>
                    <a:srgbClr val="DCD7E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Significance</a:t>
              </a:r>
              <a:endParaRPr lang="en-US" sz="13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633785" y="4195018"/>
              <a:ext cx="4447431" cy="411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29000"/>
                </a:lnSpc>
                <a:buNone/>
              </a:pPr>
              <a:r>
                <a:rPr lang="en-US" sz="1000" dirty="0">
                  <a:solidFill>
                    <a:srgbClr val="DCD7E5"/>
                  </a:solidFill>
                  <a:latin typeface="Heebo Light" pitchFamily="34" charset="0"/>
                  <a:ea typeface="Heebo Light" pitchFamily="34" charset="-122"/>
                  <a:cs typeface="Heebo Light" pitchFamily="34" charset="-120"/>
                </a:rPr>
                <a:t>Demonstrates practical application of OOP in real-world software engineering.</a:t>
              </a:r>
              <a:endParaRPr lang="en-US" sz="1000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605" y="420142"/>
            <a:ext cx="751954" cy="182538"/>
          </a:xfrm>
          <a:prstGeom prst="roundRect">
            <a:avLst>
              <a:gd name="adj" fmla="val 18756"/>
            </a:avLst>
          </a:prstGeom>
          <a:noFill/>
          <a:ln w="4763">
            <a:solidFill>
              <a:srgbClr val="481C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2462" y="455414"/>
            <a:ext cx="1077441" cy="111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0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PROJECT GOALS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1056605" y="631924"/>
            <a:ext cx="3004542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Objectives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05" y="1838995"/>
            <a:ext cx="3715420" cy="2105397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D94A802D-C95E-4851-8E89-20322843ABE4}"/>
              </a:ext>
            </a:extLst>
          </p:cNvPr>
          <p:cNvGrpSpPr/>
          <p:nvPr/>
        </p:nvGrpSpPr>
        <p:grpSpPr>
          <a:xfrm>
            <a:off x="5778550" y="1142479"/>
            <a:ext cx="2313459" cy="1044178"/>
            <a:chOff x="5778550" y="1142479"/>
            <a:chExt cx="2313459" cy="1044178"/>
          </a:xfrm>
        </p:grpSpPr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78550" y="1142479"/>
              <a:ext cx="2313459" cy="1044178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5951860" y="1258639"/>
              <a:ext cx="2023988" cy="3184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000" dirty="0">
                  <a:solidFill>
                    <a:srgbClr val="DCD7E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Develop a Billing Management Solution</a:t>
              </a:r>
              <a:endParaRPr lang="en-US" sz="1000" dirty="0"/>
            </a:p>
          </p:txBody>
        </p:sp>
        <p:sp>
          <p:nvSpPr>
            <p:cNvPr id="8" name="Text 4"/>
            <p:cNvSpPr/>
            <p:nvPr/>
          </p:nvSpPr>
          <p:spPr>
            <a:xfrm>
              <a:off x="5951860" y="1650355"/>
              <a:ext cx="2023988" cy="4201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15000"/>
                </a:lnSpc>
                <a:buNone/>
              </a:pPr>
              <a:r>
                <a:rPr lang="en-US" sz="800" dirty="0">
                  <a:solidFill>
                    <a:srgbClr val="DCD7E5"/>
                  </a:solidFill>
                  <a:latin typeface="Heebo Light" pitchFamily="34" charset="0"/>
                  <a:ea typeface="Heebo Light" pitchFamily="34" charset="-122"/>
                  <a:cs typeface="Heebo Light" pitchFamily="34" charset="-120"/>
                </a:rPr>
                <a:t>Design a reliable system for processing customer transactions and generating receipts.</a:t>
              </a:r>
              <a:endParaRPr lang="en-US" sz="8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971DFFE-CB87-48E2-BE1A-C8E18B2E5A03}"/>
              </a:ext>
            </a:extLst>
          </p:cNvPr>
          <p:cNvGrpSpPr/>
          <p:nvPr/>
        </p:nvGrpSpPr>
        <p:grpSpPr>
          <a:xfrm>
            <a:off x="5778550" y="2259881"/>
            <a:ext cx="2313459" cy="744885"/>
            <a:chOff x="5778550" y="2259881"/>
            <a:chExt cx="2313459" cy="744885"/>
          </a:xfrm>
        </p:grpSpPr>
        <p:pic>
          <p:nvPicPr>
            <p:cNvPr id="9" name="Image 2" descr="preencoded.png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778550" y="2259881"/>
              <a:ext cx="2313459" cy="744885"/>
            </a:xfrm>
            <a:prstGeom prst="rect">
              <a:avLst/>
            </a:prstGeom>
          </p:spPr>
        </p:pic>
        <p:sp>
          <p:nvSpPr>
            <p:cNvPr id="10" name="Text 5"/>
            <p:cNvSpPr/>
            <p:nvPr/>
          </p:nvSpPr>
          <p:spPr>
            <a:xfrm>
              <a:off x="5951860" y="2376041"/>
              <a:ext cx="1361852" cy="15924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000" dirty="0">
                  <a:solidFill>
                    <a:srgbClr val="DCD7E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Apply OOP Principles</a:t>
              </a:r>
              <a:endParaRPr lang="en-US" sz="1000" dirty="0"/>
            </a:p>
          </p:txBody>
        </p:sp>
        <p:sp>
          <p:nvSpPr>
            <p:cNvPr id="11" name="Text 6"/>
            <p:cNvSpPr/>
            <p:nvPr/>
          </p:nvSpPr>
          <p:spPr>
            <a:xfrm>
              <a:off x="5951860" y="2608511"/>
              <a:ext cx="2023988" cy="2800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15000"/>
                </a:lnSpc>
                <a:buNone/>
              </a:pPr>
              <a:r>
                <a:rPr lang="en-US" sz="800" dirty="0">
                  <a:solidFill>
                    <a:srgbClr val="DCD7E5"/>
                  </a:solidFill>
                  <a:latin typeface="Heebo Light" pitchFamily="34" charset="0"/>
                  <a:ea typeface="Heebo Light" pitchFamily="34" charset="-122"/>
                  <a:cs typeface="Heebo Light" pitchFamily="34" charset="-120"/>
                </a:rPr>
                <a:t>Implement encapsulation, abstraction, and class-based design in a practical context.</a:t>
              </a:r>
              <a:endParaRPr lang="en-US" sz="8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1A52B4C-08DB-4139-AA98-9C7132E0DB4D}"/>
              </a:ext>
            </a:extLst>
          </p:cNvPr>
          <p:cNvGrpSpPr/>
          <p:nvPr/>
        </p:nvGrpSpPr>
        <p:grpSpPr>
          <a:xfrm>
            <a:off x="5778550" y="3077989"/>
            <a:ext cx="2313459" cy="744885"/>
            <a:chOff x="5778550" y="3077989"/>
            <a:chExt cx="2313459" cy="744885"/>
          </a:xfrm>
        </p:grpSpPr>
        <p:pic>
          <p:nvPicPr>
            <p:cNvPr id="12" name="Image 3" descr="preencoded.png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778550" y="3077989"/>
              <a:ext cx="2313459" cy="744885"/>
            </a:xfrm>
            <a:prstGeom prst="rect">
              <a:avLst/>
            </a:prstGeom>
          </p:spPr>
        </p:pic>
        <p:sp>
          <p:nvSpPr>
            <p:cNvPr id="13" name="Text 7"/>
            <p:cNvSpPr/>
            <p:nvPr/>
          </p:nvSpPr>
          <p:spPr>
            <a:xfrm>
              <a:off x="5951860" y="3194149"/>
              <a:ext cx="1919139" cy="15924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000" dirty="0">
                  <a:solidFill>
                    <a:srgbClr val="DCD7E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Efficient Record Management</a:t>
              </a:r>
              <a:endParaRPr lang="en-US" sz="1000" dirty="0"/>
            </a:p>
          </p:txBody>
        </p:sp>
        <p:sp>
          <p:nvSpPr>
            <p:cNvPr id="14" name="Text 8"/>
            <p:cNvSpPr/>
            <p:nvPr/>
          </p:nvSpPr>
          <p:spPr>
            <a:xfrm>
              <a:off x="5951860" y="3426619"/>
              <a:ext cx="2023988" cy="2800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15000"/>
                </a:lnSpc>
                <a:buNone/>
              </a:pPr>
              <a:r>
                <a:rPr lang="en-US" sz="800" dirty="0">
                  <a:solidFill>
                    <a:srgbClr val="DCD7E5"/>
                  </a:solidFill>
                  <a:latin typeface="Heebo Light" pitchFamily="34" charset="0"/>
                  <a:ea typeface="Heebo Light" pitchFamily="34" charset="-122"/>
                  <a:cs typeface="Heebo Light" pitchFamily="34" charset="-120"/>
                </a:rPr>
                <a:t>Maintain accurate customer and item records with structured data handling.</a:t>
              </a:r>
              <a:endParaRPr lang="en-US" sz="8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DEF7AD0-6D1D-4297-AAD4-A10C89B229DE}"/>
              </a:ext>
            </a:extLst>
          </p:cNvPr>
          <p:cNvGrpSpPr/>
          <p:nvPr/>
        </p:nvGrpSpPr>
        <p:grpSpPr>
          <a:xfrm>
            <a:off x="5778550" y="3896097"/>
            <a:ext cx="2313459" cy="744885"/>
            <a:chOff x="5778550" y="3896097"/>
            <a:chExt cx="2313459" cy="744885"/>
          </a:xfrm>
        </p:grpSpPr>
        <p:pic>
          <p:nvPicPr>
            <p:cNvPr id="15" name="Image 4" descr="preencoded.png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778550" y="3896097"/>
              <a:ext cx="2313459" cy="744885"/>
            </a:xfrm>
            <a:prstGeom prst="rect">
              <a:avLst/>
            </a:prstGeom>
          </p:spPr>
        </p:pic>
        <p:sp>
          <p:nvSpPr>
            <p:cNvPr id="16" name="Text 9"/>
            <p:cNvSpPr/>
            <p:nvPr/>
          </p:nvSpPr>
          <p:spPr>
            <a:xfrm>
              <a:off x="5951860" y="4012257"/>
              <a:ext cx="1273671" cy="15924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000" dirty="0">
                  <a:solidFill>
                    <a:srgbClr val="DCD7E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Improve Modularity</a:t>
              </a:r>
              <a:endParaRPr lang="en-US" sz="1000" dirty="0"/>
            </a:p>
          </p:txBody>
        </p:sp>
        <p:sp>
          <p:nvSpPr>
            <p:cNvPr id="17" name="Text 10"/>
            <p:cNvSpPr/>
            <p:nvPr/>
          </p:nvSpPr>
          <p:spPr>
            <a:xfrm>
              <a:off x="5951860" y="4244727"/>
              <a:ext cx="2023988" cy="2800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15000"/>
                </a:lnSpc>
                <a:buNone/>
              </a:pPr>
              <a:r>
                <a:rPr lang="en-US" sz="800" dirty="0">
                  <a:solidFill>
                    <a:srgbClr val="DCD7E5"/>
                  </a:solidFill>
                  <a:latin typeface="Heebo Light" pitchFamily="34" charset="0"/>
                  <a:ea typeface="Heebo Light" pitchFamily="34" charset="-122"/>
                  <a:cs typeface="Heebo Light" pitchFamily="34" charset="-120"/>
                </a:rPr>
                <a:t>Ensure the system is maintainable, extensible, and well-organized.</a:t>
              </a:r>
              <a:endParaRPr lang="en-US" sz="800" dirty="0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BE71C7FC-2692-439B-B42A-20C5DCB9B4D7}"/>
              </a:ext>
            </a:extLst>
          </p:cNvPr>
          <p:cNvSpPr/>
          <p:nvPr/>
        </p:nvSpPr>
        <p:spPr>
          <a:xfrm>
            <a:off x="7968591" y="4876801"/>
            <a:ext cx="1168152" cy="273957"/>
          </a:xfrm>
          <a:prstGeom prst="rect">
            <a:avLst/>
          </a:prstGeom>
          <a:solidFill>
            <a:srgbClr val="0D0B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0182" y="424458"/>
            <a:ext cx="1039341" cy="187375"/>
          </a:xfrm>
          <a:prstGeom prst="roundRect">
            <a:avLst>
              <a:gd name="adj" fmla="val 18669"/>
            </a:avLst>
          </a:prstGeom>
          <a:noFill/>
          <a:ln w="4763">
            <a:solidFill>
              <a:srgbClr val="481C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47378" y="460400"/>
            <a:ext cx="1362149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65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FEATURES &amp; COVERAGE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80182" y="642342"/>
            <a:ext cx="3576563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 and Key Features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54025" y="1355554"/>
            <a:ext cx="17585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Scope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54025" y="1594646"/>
            <a:ext cx="3464793" cy="449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Designed for </a:t>
            </a:r>
            <a:r>
              <a:rPr lang="en-US" sz="11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small and medium departmental stores</a:t>
            </a: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covering customer billing, product management, and automated receipt generation.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54024" y="2389449"/>
            <a:ext cx="3464793" cy="12948"/>
          </a:xfrm>
          <a:prstGeom prst="roundRect">
            <a:avLst>
              <a:gd name="adj" fmla="val 337708"/>
            </a:avLst>
          </a:prstGeom>
          <a:solidFill>
            <a:srgbClr val="DCD7E5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80182" y="2609094"/>
            <a:ext cx="17585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0182" y="3012951"/>
            <a:ext cx="3464793" cy="829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42900" indent="-342900" algn="l">
              <a:lnSpc>
                <a:spcPct val="116000"/>
              </a:lnSpc>
              <a:buSzPct val="100000"/>
              <a:buChar char="•"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Admin &amp; Cashier Login (Role-Based Access)</a:t>
            </a:r>
            <a:endParaRPr lang="en-US" sz="1000" dirty="0"/>
          </a:p>
          <a:p>
            <a:pPr marL="342900" indent="-342900" algn="l">
              <a:lnSpc>
                <a:spcPct val="116000"/>
              </a:lnSpc>
              <a:buSzPct val="100000"/>
              <a:buChar char="•"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Customer &amp; Item Management</a:t>
            </a:r>
            <a:endParaRPr lang="en-US" sz="1000" dirty="0"/>
          </a:p>
          <a:p>
            <a:pPr marL="342900" indent="-342900" algn="l">
              <a:lnSpc>
                <a:spcPct val="116000"/>
              </a:lnSpc>
              <a:buSzPct val="100000"/>
              <a:buChar char="•"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Discount &amp; Tax Processing</a:t>
            </a:r>
            <a:endParaRPr lang="en-US" sz="1000" dirty="0"/>
          </a:p>
          <a:p>
            <a:pPr marL="342900" indent="-342900" algn="l">
              <a:lnSpc>
                <a:spcPct val="116000"/>
              </a:lnSpc>
              <a:buSzPct val="100000"/>
              <a:buChar char="•"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Multiple Payment Methods</a:t>
            </a:r>
            <a:endParaRPr lang="en-US" sz="1000" dirty="0"/>
          </a:p>
          <a:p>
            <a:pPr marL="342900" indent="-342900" algn="l">
              <a:lnSpc>
                <a:spcPct val="116000"/>
              </a:lnSpc>
              <a:buSzPct val="100000"/>
              <a:buChar char="•"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Bill Storage &amp; Retrieval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3638" y="1168301"/>
            <a:ext cx="3464793" cy="346479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4510F3D-6253-4332-A48F-C78576663C03}"/>
              </a:ext>
            </a:extLst>
          </p:cNvPr>
          <p:cNvSpPr/>
          <p:nvPr/>
        </p:nvSpPr>
        <p:spPr>
          <a:xfrm>
            <a:off x="7968591" y="4876801"/>
            <a:ext cx="1168152" cy="273957"/>
          </a:xfrm>
          <a:prstGeom prst="rect">
            <a:avLst/>
          </a:prstGeom>
          <a:solidFill>
            <a:srgbClr val="0D0B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48444"/>
            <a:ext cx="1192783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481C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695697"/>
            <a:ext cx="147034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CORE CAPABILITIES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81075"/>
            <a:ext cx="447883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Functionalities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63666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system defines two distinct user roles with dedicated permissions, ensuring operational security and task separation.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022946"/>
            <a:ext cx="8151763" cy="2472035"/>
          </a:xfrm>
          <a:prstGeom prst="roundRect">
            <a:avLst>
              <a:gd name="adj" fmla="val 2409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2714" y="2117527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Feature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73498" y="2117527"/>
            <a:ext cx="34258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30379" y="2117527"/>
            <a:ext cx="3428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Cashier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2714" y="2528739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73498" y="2528739"/>
            <a:ext cx="34258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Secure admin login with full access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30379" y="2528739"/>
            <a:ext cx="3428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Restricted cashier login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714" y="2939951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Item Pricing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73498" y="2939951"/>
            <a:ext cx="34258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Update and manage item prices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30379" y="2939951"/>
            <a:ext cx="3428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Read-only access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2714" y="3351163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73498" y="3351163"/>
            <a:ext cx="34258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Update stock quantities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30379" y="3351163"/>
            <a:ext cx="3428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View availability only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2714" y="3762375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Billing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73498" y="3762375"/>
            <a:ext cx="34258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Oversee all billing operations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30379" y="3762375"/>
            <a:ext cx="3428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Add items, apply discounts &amp; taxes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2714" y="4173587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Payments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73498" y="4173587"/>
            <a:ext cx="34258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Monitor transactions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30379" y="4173587"/>
            <a:ext cx="3428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Process payments, generate receipts</a:t>
            </a:r>
            <a:endParaRPr lang="en-US" sz="11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BC1C23-2AA4-4A5C-B46F-CF9962450544}"/>
              </a:ext>
            </a:extLst>
          </p:cNvPr>
          <p:cNvSpPr/>
          <p:nvPr/>
        </p:nvSpPr>
        <p:spPr>
          <a:xfrm>
            <a:off x="7968591" y="4876801"/>
            <a:ext cx="1168152" cy="273957"/>
          </a:xfrm>
          <a:prstGeom prst="rect">
            <a:avLst/>
          </a:prstGeom>
          <a:solidFill>
            <a:srgbClr val="0D0B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2162"/>
            <a:ext cx="1185639" cy="253901"/>
          </a:xfrm>
          <a:prstGeom prst="roundRect">
            <a:avLst>
              <a:gd name="adj" fmla="val 17588"/>
            </a:avLst>
          </a:prstGeom>
          <a:noFill/>
          <a:ln w="4763">
            <a:solidFill>
              <a:srgbClr val="481C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0579" y="436736"/>
            <a:ext cx="1473919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0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TRANSACTION FLOW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95846"/>
            <a:ext cx="6918201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Billing Process and Receipt Generation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407" y="1298004"/>
            <a:ext cx="6339185" cy="29012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56361" y="3395670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Receipt &amp; Storage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56456" y="3395670"/>
            <a:ext cx="1190143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Tax &amp; Payment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264702" y="3395670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Subtotal &amp; Discount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740341" y="3395670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Info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6119" y="4339382"/>
            <a:ext cx="815176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Each transaction follows a structured, sequential flow ensuring accuracy at every stage — from customer identification through to final receipt generation and persistent bill storage.</a:t>
            </a:r>
            <a:endParaRPr lang="en-US" sz="1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A0DBF0-6506-4BB8-9668-857F6830714D}"/>
              </a:ext>
            </a:extLst>
          </p:cNvPr>
          <p:cNvSpPr/>
          <p:nvPr/>
        </p:nvSpPr>
        <p:spPr>
          <a:xfrm>
            <a:off x="7968591" y="4876801"/>
            <a:ext cx="1168152" cy="273957"/>
          </a:xfrm>
          <a:prstGeom prst="rect">
            <a:avLst/>
          </a:prstGeom>
          <a:solidFill>
            <a:srgbClr val="0D0B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0182" y="424458"/>
            <a:ext cx="886718" cy="187375"/>
          </a:xfrm>
          <a:prstGeom prst="roundRect">
            <a:avLst>
              <a:gd name="adj" fmla="val 18669"/>
            </a:avLst>
          </a:prstGeom>
          <a:noFill/>
          <a:ln w="4763">
            <a:solidFill>
              <a:srgbClr val="481C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47378" y="460400"/>
            <a:ext cx="120952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65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TECHNICAL DESIGN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80182" y="642342"/>
            <a:ext cx="3106043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47378" y="1168301"/>
            <a:ext cx="1846436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Modular 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7378" y="1425772"/>
            <a:ext cx="3464793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system follows a layered, modular architecture where each component has a single responsibility. Data flows sequentially from authentication through to persistent storage, ensuring separation of concerns and ease of maintenance.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47378" y="2571749"/>
            <a:ext cx="3464793" cy="657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16000"/>
              </a:lnSpc>
              <a:buSzPct val="100000"/>
              <a:buChar char="•"/>
            </a:pPr>
            <a:r>
              <a:rPr lang="en-US" sz="12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Login Module</a:t>
            </a: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Role-based authentication</a:t>
            </a:r>
            <a:endParaRPr lang="en-US" sz="1200" dirty="0"/>
          </a:p>
          <a:p>
            <a:pPr marL="342900" indent="-342900" algn="l">
              <a:lnSpc>
                <a:spcPct val="116000"/>
              </a:lnSpc>
              <a:buSzPct val="100000"/>
              <a:buChar char="•"/>
            </a:pPr>
            <a:r>
              <a:rPr lang="en-US" sz="12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Billing Module</a:t>
            </a: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Core transaction logic</a:t>
            </a:r>
            <a:endParaRPr lang="en-US" sz="1200" dirty="0"/>
          </a:p>
          <a:p>
            <a:pPr marL="342900" indent="-342900" algn="l">
              <a:lnSpc>
                <a:spcPct val="116000"/>
              </a:lnSpc>
              <a:buSzPct val="100000"/>
              <a:buChar char="•"/>
            </a:pPr>
            <a:r>
              <a:rPr lang="en-US" sz="12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Payment Module</a:t>
            </a: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Multi-method processing</a:t>
            </a:r>
            <a:endParaRPr lang="en-US" sz="1200" dirty="0"/>
          </a:p>
          <a:p>
            <a:pPr marL="342900" indent="-342900" algn="l">
              <a:lnSpc>
                <a:spcPct val="116000"/>
              </a:lnSpc>
              <a:buSzPct val="100000"/>
              <a:buChar char="•"/>
            </a:pPr>
            <a:r>
              <a:rPr lang="en-US" sz="12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Storage Module</a:t>
            </a: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Persistent record keeping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3638" y="1168301"/>
            <a:ext cx="3464793" cy="346479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3FAD855-A7AF-4567-88BC-D7D7E40678EB}"/>
              </a:ext>
            </a:extLst>
          </p:cNvPr>
          <p:cNvSpPr/>
          <p:nvPr/>
        </p:nvSpPr>
        <p:spPr>
          <a:xfrm>
            <a:off x="7968591" y="4876801"/>
            <a:ext cx="1168152" cy="273957"/>
          </a:xfrm>
          <a:prstGeom prst="rect">
            <a:avLst/>
          </a:prstGeom>
          <a:solidFill>
            <a:srgbClr val="0D0B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84014"/>
            <a:ext cx="1381497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481C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731267"/>
            <a:ext cx="165906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OOP IMPLEMENTATION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16645"/>
            <a:ext cx="773474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Object-Oriented Programming Concepts</a:t>
            </a:r>
            <a:endParaRPr lang="en-US" sz="275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8C62969-61AE-44CA-8A01-EE4947C90843}"/>
              </a:ext>
            </a:extLst>
          </p:cNvPr>
          <p:cNvGrpSpPr/>
          <p:nvPr/>
        </p:nvGrpSpPr>
        <p:grpSpPr>
          <a:xfrm>
            <a:off x="496119" y="1672233"/>
            <a:ext cx="2599134" cy="1688753"/>
            <a:chOff x="496119" y="1672233"/>
            <a:chExt cx="2599134" cy="1688753"/>
          </a:xfrm>
        </p:grpSpPr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6119" y="1672233"/>
              <a:ext cx="283518" cy="283518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496119" y="2132930"/>
              <a:ext cx="1772022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350" dirty="0">
                  <a:solidFill>
                    <a:srgbClr val="DCD7E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Class &amp; Object</a:t>
              </a:r>
              <a:endParaRPr lang="en-US" sz="135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496119" y="2439442"/>
              <a:ext cx="2599134" cy="9215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100" dirty="0">
                  <a:solidFill>
                    <a:srgbClr val="DCD7E5"/>
                  </a:solidFill>
                  <a:latin typeface="Heebo Light" pitchFamily="34" charset="0"/>
                  <a:ea typeface="Heebo Light" pitchFamily="34" charset="-122"/>
                  <a:cs typeface="Heebo Light" pitchFamily="34" charset="-120"/>
                </a:rPr>
                <a:t>The </a:t>
              </a:r>
              <a:r>
                <a:rPr lang="en-US" sz="1100" dirty="0">
                  <a:solidFill>
                    <a:srgbClr val="DCD7E5"/>
                  </a:solidFill>
                  <a:highlight>
                    <a:srgbClr val="1A1739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Item</a:t>
              </a:r>
              <a:r>
                <a:rPr lang="en-US" sz="1100" dirty="0">
                  <a:solidFill>
                    <a:srgbClr val="DCD7E5"/>
                  </a:solidFill>
                  <a:latin typeface="Heebo Light" pitchFamily="34" charset="0"/>
                  <a:ea typeface="Heebo Light" pitchFamily="34" charset="-122"/>
                  <a:cs typeface="Heebo Light" pitchFamily="34" charset="-120"/>
                </a:rPr>
                <a:t> class encapsulates product attributes — name, price, quantity — instantiated as objects representing individual products in the catalog.</a:t>
              </a:r>
              <a:endParaRPr lang="en-US" sz="11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DEB80A2-86FD-452A-85F0-159EE3567A82}"/>
              </a:ext>
            </a:extLst>
          </p:cNvPr>
          <p:cNvGrpSpPr/>
          <p:nvPr/>
        </p:nvGrpSpPr>
        <p:grpSpPr>
          <a:xfrm>
            <a:off x="3272433" y="1672233"/>
            <a:ext cx="2599134" cy="1674465"/>
            <a:chOff x="3272433" y="1672233"/>
            <a:chExt cx="2599134" cy="1674465"/>
          </a:xfrm>
        </p:grpSpPr>
        <p:pic>
          <p:nvPicPr>
            <p:cNvPr id="8" name="Image 1" descr="preencoded.png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72433" y="1672233"/>
              <a:ext cx="283518" cy="283518"/>
            </a:xfrm>
            <a:prstGeom prst="rect">
              <a:avLst/>
            </a:prstGeom>
          </p:spPr>
        </p:pic>
        <p:sp>
          <p:nvSpPr>
            <p:cNvPr id="9" name="Text 5"/>
            <p:cNvSpPr/>
            <p:nvPr/>
          </p:nvSpPr>
          <p:spPr>
            <a:xfrm>
              <a:off x="3272433" y="2132930"/>
              <a:ext cx="1772022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350" dirty="0">
                  <a:solidFill>
                    <a:srgbClr val="DCD7E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Encapsulation</a:t>
              </a:r>
              <a:endParaRPr lang="en-US" sz="1350" dirty="0"/>
            </a:p>
          </p:txBody>
        </p:sp>
        <p:sp>
          <p:nvSpPr>
            <p:cNvPr id="10" name="Text 6"/>
            <p:cNvSpPr/>
            <p:nvPr/>
          </p:nvSpPr>
          <p:spPr>
            <a:xfrm>
              <a:off x="3272433" y="2439442"/>
              <a:ext cx="2599134" cy="9072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100" dirty="0">
                  <a:solidFill>
                    <a:srgbClr val="DCD7E5"/>
                  </a:solidFill>
                  <a:latin typeface="Heebo Light" pitchFamily="34" charset="0"/>
                  <a:ea typeface="Heebo Light" pitchFamily="34" charset="-122"/>
                  <a:cs typeface="Heebo Light" pitchFamily="34" charset="-120"/>
                </a:rPr>
                <a:t>Data fields and methods are bundled within classes, exposing only necessary interfaces — protecting internal state and reducing unintended side effects.</a:t>
              </a:r>
              <a:endParaRPr lang="en-US" sz="11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038438-961F-4F7C-9F3D-5AF15122F7AF}"/>
              </a:ext>
            </a:extLst>
          </p:cNvPr>
          <p:cNvGrpSpPr/>
          <p:nvPr/>
        </p:nvGrpSpPr>
        <p:grpSpPr>
          <a:xfrm>
            <a:off x="6048747" y="1672233"/>
            <a:ext cx="2599134" cy="1674465"/>
            <a:chOff x="6048747" y="1672233"/>
            <a:chExt cx="2599134" cy="1674465"/>
          </a:xfrm>
        </p:grpSpPr>
        <p:pic>
          <p:nvPicPr>
            <p:cNvPr id="11" name="Image 2" descr="preencoded.png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048747" y="1672233"/>
              <a:ext cx="283518" cy="283518"/>
            </a:xfrm>
            <a:prstGeom prst="rect">
              <a:avLst/>
            </a:prstGeom>
          </p:spPr>
        </p:pic>
        <p:sp>
          <p:nvSpPr>
            <p:cNvPr id="12" name="Text 7"/>
            <p:cNvSpPr/>
            <p:nvPr/>
          </p:nvSpPr>
          <p:spPr>
            <a:xfrm>
              <a:off x="6048747" y="2132930"/>
              <a:ext cx="1772022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350" dirty="0">
                  <a:solidFill>
                    <a:srgbClr val="DCD7E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Abstraction</a:t>
              </a:r>
              <a:endParaRPr lang="en-US" sz="1350" dirty="0"/>
            </a:p>
          </p:txBody>
        </p:sp>
        <p:sp>
          <p:nvSpPr>
            <p:cNvPr id="13" name="Text 8"/>
            <p:cNvSpPr/>
            <p:nvPr/>
          </p:nvSpPr>
          <p:spPr>
            <a:xfrm>
              <a:off x="6048747" y="2439442"/>
              <a:ext cx="2599134" cy="9072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100" dirty="0">
                  <a:solidFill>
                    <a:srgbClr val="DCD7E5"/>
                  </a:solidFill>
                  <a:latin typeface="Heebo Light" pitchFamily="34" charset="0"/>
                  <a:ea typeface="Heebo Light" pitchFamily="34" charset="-122"/>
                  <a:cs typeface="Heebo Light" pitchFamily="34" charset="-120"/>
                </a:rPr>
                <a:t>Complex calculations for taxes, discounts, and totals are hidden behind clean method calls, simplifying usage and improving code readability.</a:t>
              </a:r>
              <a:endParaRPr lang="en-US" sz="1100" dirty="0"/>
            </a:p>
          </p:txBody>
        </p:sp>
      </p:grpSp>
      <p:sp>
        <p:nvSpPr>
          <p:cNvPr id="14" name="Shape 9"/>
          <p:cNvSpPr/>
          <p:nvPr/>
        </p:nvSpPr>
        <p:spPr>
          <a:xfrm>
            <a:off x="496119" y="3520455"/>
            <a:ext cx="8151763" cy="779562"/>
          </a:xfrm>
          <a:prstGeom prst="roundRect">
            <a:avLst>
              <a:gd name="adj" fmla="val 7638"/>
            </a:avLst>
          </a:prstGeom>
          <a:solidFill>
            <a:srgbClr val="022349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877" y="3721224"/>
            <a:ext cx="177180" cy="14175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56816" y="3683422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These OOP principles collectively enhance </a:t>
            </a:r>
            <a:r>
              <a:rPr lang="en-US" sz="1100" b="1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software quality, maintainability, and extensibility</a:t>
            </a:r>
            <a:r>
              <a:rPr lang="en-US" sz="11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core goals of structured software engineering.</a:t>
            </a:r>
            <a:endParaRPr lang="en-US" sz="1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E7D1EC-04F4-406D-BAC2-68EEF3A6BA84}"/>
              </a:ext>
            </a:extLst>
          </p:cNvPr>
          <p:cNvSpPr/>
          <p:nvPr/>
        </p:nvSpPr>
        <p:spPr>
          <a:xfrm>
            <a:off x="7968591" y="4876801"/>
            <a:ext cx="1168152" cy="273957"/>
          </a:xfrm>
          <a:prstGeom prst="rect">
            <a:avLst/>
          </a:prstGeom>
          <a:solidFill>
            <a:srgbClr val="0D0B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62298" y="450949"/>
            <a:ext cx="471264" cy="163934"/>
          </a:xfrm>
          <a:prstGeom prst="roundRect">
            <a:avLst>
              <a:gd name="adj" fmla="val 19068"/>
            </a:avLst>
          </a:prstGeom>
          <a:noFill/>
          <a:ln w="4763">
            <a:solidFill>
              <a:srgbClr val="481C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22871" y="483617"/>
            <a:ext cx="807318" cy="9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5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ROADMAP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362298" y="639291"/>
            <a:ext cx="3084761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Enhancements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298" y="1895847"/>
            <a:ext cx="3392314" cy="1922264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1E7D68B8-F44E-4C79-9476-FF89D1B5D12F}"/>
              </a:ext>
            </a:extLst>
          </p:cNvPr>
          <p:cNvGrpSpPr/>
          <p:nvPr/>
        </p:nvGrpSpPr>
        <p:grpSpPr>
          <a:xfrm>
            <a:off x="5687169" y="1090240"/>
            <a:ext cx="2099221" cy="657895"/>
            <a:chOff x="5687169" y="1090240"/>
            <a:chExt cx="2099221" cy="657895"/>
          </a:xfrm>
        </p:grpSpPr>
        <p:sp>
          <p:nvSpPr>
            <p:cNvPr id="6" name="Shape 3"/>
            <p:cNvSpPr/>
            <p:nvPr/>
          </p:nvSpPr>
          <p:spPr>
            <a:xfrm>
              <a:off x="5687169" y="1090240"/>
              <a:ext cx="2099221" cy="657895"/>
            </a:xfrm>
            <a:prstGeom prst="roundRect">
              <a:avLst>
                <a:gd name="adj" fmla="val 5939"/>
              </a:avLst>
            </a:prstGeom>
            <a:solidFill>
              <a:srgbClr val="0D0A2C">
                <a:alpha val="95000"/>
              </a:srgbClr>
            </a:solidFill>
            <a:ln w="9525">
              <a:solidFill>
                <a:srgbClr val="4A2C85"/>
              </a:solidFill>
              <a:prstDash val="solid"/>
            </a:ln>
          </p:spPr>
        </p:sp>
        <p:sp>
          <p:nvSpPr>
            <p:cNvPr id="7" name="Text 4"/>
            <p:cNvSpPr/>
            <p:nvPr/>
          </p:nvSpPr>
          <p:spPr>
            <a:xfrm>
              <a:off x="5789712" y="1192783"/>
              <a:ext cx="1170756" cy="14533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900" dirty="0">
                  <a:solidFill>
                    <a:srgbClr val="DCD7E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GUI-Based Interface</a:t>
              </a:r>
              <a:endParaRPr lang="en-US" sz="9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5789712" y="1399133"/>
              <a:ext cx="1894136" cy="2464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10000"/>
                </a:lnSpc>
                <a:buNone/>
              </a:pPr>
              <a:r>
                <a:rPr lang="en-US" sz="700" dirty="0">
                  <a:solidFill>
                    <a:srgbClr val="DCD7E5"/>
                  </a:solidFill>
                  <a:latin typeface="Heebo Light" pitchFamily="34" charset="0"/>
                  <a:ea typeface="Heebo Light" pitchFamily="34" charset="-122"/>
                  <a:cs typeface="Heebo Light" pitchFamily="34" charset="-120"/>
                </a:rPr>
                <a:t>Transition from console to a graphical user interface for improved usability.</a:t>
              </a:r>
              <a:endParaRPr lang="en-US" sz="7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274CA74-18EE-433D-BC6E-F4507E0FBD9F}"/>
              </a:ext>
            </a:extLst>
          </p:cNvPr>
          <p:cNvGrpSpPr/>
          <p:nvPr/>
        </p:nvGrpSpPr>
        <p:grpSpPr>
          <a:xfrm>
            <a:off x="5687169" y="1809155"/>
            <a:ext cx="2099221" cy="657895"/>
            <a:chOff x="5687169" y="1809155"/>
            <a:chExt cx="2099221" cy="657895"/>
          </a:xfrm>
        </p:grpSpPr>
        <p:sp>
          <p:nvSpPr>
            <p:cNvPr id="9" name="Shape 6"/>
            <p:cNvSpPr/>
            <p:nvPr/>
          </p:nvSpPr>
          <p:spPr>
            <a:xfrm>
              <a:off x="5687169" y="1809155"/>
              <a:ext cx="2099221" cy="657895"/>
            </a:xfrm>
            <a:prstGeom prst="roundRect">
              <a:avLst>
                <a:gd name="adj" fmla="val 5939"/>
              </a:avLst>
            </a:prstGeom>
            <a:solidFill>
              <a:srgbClr val="0D0A2C">
                <a:alpha val="95000"/>
              </a:srgbClr>
            </a:solidFill>
            <a:ln w="9525">
              <a:solidFill>
                <a:srgbClr val="4A2C85"/>
              </a:solidFill>
              <a:prstDash val="solid"/>
            </a:ln>
          </p:spPr>
        </p:sp>
        <p:sp>
          <p:nvSpPr>
            <p:cNvPr id="10" name="Text 7"/>
            <p:cNvSpPr/>
            <p:nvPr/>
          </p:nvSpPr>
          <p:spPr>
            <a:xfrm>
              <a:off x="5789712" y="1911697"/>
              <a:ext cx="1231329" cy="14533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900" dirty="0">
                  <a:solidFill>
                    <a:srgbClr val="DCD7E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Database Integration</a:t>
              </a:r>
              <a:endParaRPr lang="en-US" sz="9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5789712" y="2118047"/>
              <a:ext cx="1894136" cy="2464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10000"/>
                </a:lnSpc>
                <a:buNone/>
              </a:pPr>
              <a:r>
                <a:rPr lang="en-US" sz="700" dirty="0">
                  <a:solidFill>
                    <a:srgbClr val="DCD7E5"/>
                  </a:solidFill>
                  <a:latin typeface="Heebo Light" pitchFamily="34" charset="0"/>
                  <a:ea typeface="Heebo Light" pitchFamily="34" charset="-122"/>
                  <a:cs typeface="Heebo Light" pitchFamily="34" charset="-120"/>
                </a:rPr>
                <a:t>Persistent data storage using SQL for customers, items, and transactions.</a:t>
              </a:r>
              <a:endParaRPr lang="en-US" sz="7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756A7CF-4159-4C27-A5BE-8BA8E8AE6ECB}"/>
              </a:ext>
            </a:extLst>
          </p:cNvPr>
          <p:cNvGrpSpPr/>
          <p:nvPr/>
        </p:nvGrpSpPr>
        <p:grpSpPr>
          <a:xfrm>
            <a:off x="5687169" y="2528069"/>
            <a:ext cx="2099221" cy="657895"/>
            <a:chOff x="5687169" y="2528069"/>
            <a:chExt cx="2099221" cy="657895"/>
          </a:xfrm>
        </p:grpSpPr>
        <p:sp>
          <p:nvSpPr>
            <p:cNvPr id="12" name="Shape 9"/>
            <p:cNvSpPr/>
            <p:nvPr/>
          </p:nvSpPr>
          <p:spPr>
            <a:xfrm>
              <a:off x="5687169" y="2528069"/>
              <a:ext cx="2099221" cy="657895"/>
            </a:xfrm>
            <a:prstGeom prst="roundRect">
              <a:avLst>
                <a:gd name="adj" fmla="val 5939"/>
              </a:avLst>
            </a:prstGeom>
            <a:solidFill>
              <a:srgbClr val="0D0A2C">
                <a:alpha val="95000"/>
              </a:srgbClr>
            </a:solidFill>
            <a:ln w="9525">
              <a:solidFill>
                <a:srgbClr val="4A2C85"/>
              </a:solidFill>
              <a:prstDash val="solid"/>
            </a:ln>
          </p:spPr>
        </p:sp>
        <p:sp>
          <p:nvSpPr>
            <p:cNvPr id="13" name="Text 10"/>
            <p:cNvSpPr/>
            <p:nvPr/>
          </p:nvSpPr>
          <p:spPr>
            <a:xfrm>
              <a:off x="5789712" y="2630612"/>
              <a:ext cx="1278954" cy="14533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900" dirty="0">
                  <a:solidFill>
                    <a:srgbClr val="DCD7E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Inventory &amp; Reporting</a:t>
              </a:r>
              <a:endParaRPr lang="en-US" sz="9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5789712" y="2836962"/>
              <a:ext cx="1894136" cy="2464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10000"/>
                </a:lnSpc>
                <a:buNone/>
              </a:pPr>
              <a:r>
                <a:rPr lang="en-US" sz="700" dirty="0">
                  <a:solidFill>
                    <a:srgbClr val="DCD7E5"/>
                  </a:solidFill>
                  <a:latin typeface="Heebo Light" pitchFamily="34" charset="0"/>
                  <a:ea typeface="Heebo Light" pitchFamily="34" charset="-122"/>
                  <a:cs typeface="Heebo Light" pitchFamily="34" charset="-120"/>
                </a:rPr>
                <a:t>Real-time inventory tracking and a sales reporting dashboard for management.</a:t>
              </a:r>
              <a:endParaRPr lang="en-US" sz="7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04D5E6A-DBBD-40DA-8445-9B118E2CB6F0}"/>
              </a:ext>
            </a:extLst>
          </p:cNvPr>
          <p:cNvGrpSpPr/>
          <p:nvPr/>
        </p:nvGrpSpPr>
        <p:grpSpPr>
          <a:xfrm>
            <a:off x="5687169" y="3246983"/>
            <a:ext cx="2099221" cy="657895"/>
            <a:chOff x="5687169" y="3246983"/>
            <a:chExt cx="2099221" cy="657895"/>
          </a:xfrm>
        </p:grpSpPr>
        <p:sp>
          <p:nvSpPr>
            <p:cNvPr id="15" name="Shape 12"/>
            <p:cNvSpPr/>
            <p:nvPr/>
          </p:nvSpPr>
          <p:spPr>
            <a:xfrm>
              <a:off x="5687169" y="3246983"/>
              <a:ext cx="2099221" cy="657895"/>
            </a:xfrm>
            <a:prstGeom prst="roundRect">
              <a:avLst>
                <a:gd name="adj" fmla="val 5939"/>
              </a:avLst>
            </a:prstGeom>
            <a:solidFill>
              <a:srgbClr val="0D0A2C">
                <a:alpha val="95000"/>
              </a:srgbClr>
            </a:solidFill>
            <a:ln w="9525">
              <a:solidFill>
                <a:srgbClr val="4A2C85"/>
              </a:solidFill>
              <a:prstDash val="solid"/>
            </a:ln>
          </p:spPr>
        </p:sp>
        <p:sp>
          <p:nvSpPr>
            <p:cNvPr id="16" name="Text 13"/>
            <p:cNvSpPr/>
            <p:nvPr/>
          </p:nvSpPr>
          <p:spPr>
            <a:xfrm>
              <a:off x="5789712" y="3349526"/>
              <a:ext cx="1428080" cy="14533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900" dirty="0">
                  <a:solidFill>
                    <a:srgbClr val="DCD7E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Advanced OOP Features</a:t>
              </a:r>
              <a:endParaRPr lang="en-US" sz="9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5789712" y="3555876"/>
              <a:ext cx="1894136" cy="2464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10000"/>
                </a:lnSpc>
                <a:buNone/>
              </a:pPr>
              <a:r>
                <a:rPr lang="en-US" sz="700" dirty="0">
                  <a:solidFill>
                    <a:srgbClr val="DCD7E5"/>
                  </a:solidFill>
                  <a:latin typeface="Heebo Light" pitchFamily="34" charset="0"/>
                  <a:ea typeface="Heebo Light" pitchFamily="34" charset="-122"/>
                  <a:cs typeface="Heebo Light" pitchFamily="34" charset="-120"/>
                </a:rPr>
                <a:t>Implement inheritance and polymorphism for extended class hierarchies.</a:t>
              </a:r>
              <a:endParaRPr lang="en-US" sz="7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ECD7AD5-C42F-4E80-B9C9-ED48DBA2CEB2}"/>
              </a:ext>
            </a:extLst>
          </p:cNvPr>
          <p:cNvGrpSpPr/>
          <p:nvPr/>
        </p:nvGrpSpPr>
        <p:grpSpPr>
          <a:xfrm>
            <a:off x="5687169" y="3965897"/>
            <a:ext cx="2099221" cy="657895"/>
            <a:chOff x="5687169" y="3965897"/>
            <a:chExt cx="2099221" cy="657895"/>
          </a:xfrm>
        </p:grpSpPr>
        <p:sp>
          <p:nvSpPr>
            <p:cNvPr id="18" name="Shape 15"/>
            <p:cNvSpPr/>
            <p:nvPr/>
          </p:nvSpPr>
          <p:spPr>
            <a:xfrm>
              <a:off x="5687169" y="3965897"/>
              <a:ext cx="2099221" cy="657895"/>
            </a:xfrm>
            <a:prstGeom prst="roundRect">
              <a:avLst>
                <a:gd name="adj" fmla="val 5939"/>
              </a:avLst>
            </a:prstGeom>
            <a:solidFill>
              <a:srgbClr val="0D0A2C">
                <a:alpha val="95000"/>
              </a:srgbClr>
            </a:solidFill>
            <a:ln w="9525">
              <a:solidFill>
                <a:srgbClr val="4A2C85"/>
              </a:solidFill>
              <a:prstDash val="solid"/>
            </a:ln>
          </p:spPr>
        </p:sp>
        <p:sp>
          <p:nvSpPr>
            <p:cNvPr id="19" name="Text 16"/>
            <p:cNvSpPr/>
            <p:nvPr/>
          </p:nvSpPr>
          <p:spPr>
            <a:xfrm>
              <a:off x="5789712" y="4068440"/>
              <a:ext cx="1162869" cy="14533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900" dirty="0">
                  <a:solidFill>
                    <a:srgbClr val="DCD7E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Enhanced Security</a:t>
              </a:r>
              <a:endParaRPr lang="en-US" sz="9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5789712" y="4274790"/>
              <a:ext cx="1894136" cy="2464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10000"/>
                </a:lnSpc>
                <a:buNone/>
              </a:pPr>
              <a:r>
                <a:rPr lang="en-US" sz="700" dirty="0">
                  <a:solidFill>
                    <a:srgbClr val="DCD7E5"/>
                  </a:solidFill>
                  <a:latin typeface="Heebo Light" pitchFamily="34" charset="0"/>
                  <a:ea typeface="Heebo Light" pitchFamily="34" charset="-122"/>
                  <a:cs typeface="Heebo Light" pitchFamily="34" charset="-120"/>
                </a:rPr>
                <a:t>Stronger authentication, input validation, and access control mechanisms.</a:t>
              </a:r>
              <a:endParaRPr lang="en-US" sz="700" dirty="0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268ABE0D-08AC-44E9-A9BD-888E5A6C81F2}"/>
              </a:ext>
            </a:extLst>
          </p:cNvPr>
          <p:cNvSpPr/>
          <p:nvPr/>
        </p:nvSpPr>
        <p:spPr>
          <a:xfrm>
            <a:off x="7968591" y="4876801"/>
            <a:ext cx="1168152" cy="273957"/>
          </a:xfrm>
          <a:prstGeom prst="rect">
            <a:avLst/>
          </a:prstGeom>
          <a:solidFill>
            <a:srgbClr val="0D0B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040755"/>
            <a:ext cx="726132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481C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1088008"/>
            <a:ext cx="100369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SUMMARY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37338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</a:t>
            </a:r>
            <a:endParaRPr lang="en-US" sz="275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4853931-EDED-45ED-A204-3457DA01C3D0}"/>
              </a:ext>
            </a:extLst>
          </p:cNvPr>
          <p:cNvGrpSpPr/>
          <p:nvPr/>
        </p:nvGrpSpPr>
        <p:grpSpPr>
          <a:xfrm>
            <a:off x="496119" y="2028974"/>
            <a:ext cx="2622724" cy="1506810"/>
            <a:chOff x="496119" y="2028974"/>
            <a:chExt cx="2622724" cy="1506810"/>
          </a:xfrm>
        </p:grpSpPr>
        <p:sp>
          <p:nvSpPr>
            <p:cNvPr id="5" name="Shape 3"/>
            <p:cNvSpPr/>
            <p:nvPr/>
          </p:nvSpPr>
          <p:spPr>
            <a:xfrm>
              <a:off x="496119" y="2028974"/>
              <a:ext cx="2622724" cy="1506810"/>
            </a:xfrm>
            <a:prstGeom prst="roundRect">
              <a:avLst>
                <a:gd name="adj" fmla="val 3952"/>
              </a:avLst>
            </a:prstGeom>
            <a:solidFill>
              <a:srgbClr val="31136C"/>
            </a:solidFill>
            <a:ln w="4763">
              <a:solidFill>
                <a:srgbClr val="4A2C85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642640" y="2175495"/>
              <a:ext cx="1860724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350" dirty="0">
                  <a:solidFill>
                    <a:srgbClr val="DCD7E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Project Achievement</a:t>
              </a:r>
              <a:endParaRPr lang="en-US" sz="135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642640" y="2482007"/>
              <a:ext cx="2329681" cy="9072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100" dirty="0">
                  <a:solidFill>
                    <a:srgbClr val="DCD7E5"/>
                  </a:solidFill>
                  <a:latin typeface="Heebo Light" pitchFamily="34" charset="0"/>
                  <a:ea typeface="Heebo Light" pitchFamily="34" charset="-122"/>
                  <a:cs typeface="Heebo Light" pitchFamily="34" charset="-120"/>
                </a:rPr>
                <a:t>A fully functional, modular billing system was successfully designed and implemented using core OOP principles.</a:t>
              </a:r>
              <a:endParaRPr lang="en-US" sz="11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B5B9561-8F55-438C-A786-9489C6B1FF6D}"/>
              </a:ext>
            </a:extLst>
          </p:cNvPr>
          <p:cNvGrpSpPr/>
          <p:nvPr/>
        </p:nvGrpSpPr>
        <p:grpSpPr>
          <a:xfrm>
            <a:off x="3260601" y="2028974"/>
            <a:ext cx="2622724" cy="1506810"/>
            <a:chOff x="3260601" y="2028974"/>
            <a:chExt cx="2622724" cy="1506810"/>
          </a:xfrm>
        </p:grpSpPr>
        <p:sp>
          <p:nvSpPr>
            <p:cNvPr id="8" name="Shape 6"/>
            <p:cNvSpPr/>
            <p:nvPr/>
          </p:nvSpPr>
          <p:spPr>
            <a:xfrm>
              <a:off x="3260601" y="2028974"/>
              <a:ext cx="2622724" cy="1506810"/>
            </a:xfrm>
            <a:prstGeom prst="roundRect">
              <a:avLst>
                <a:gd name="adj" fmla="val 3952"/>
              </a:avLst>
            </a:prstGeom>
            <a:solidFill>
              <a:srgbClr val="31136C"/>
            </a:solidFill>
            <a:ln w="4763">
              <a:solidFill>
                <a:srgbClr val="4A2C85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3407122" y="2175495"/>
              <a:ext cx="1772022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350" dirty="0">
                  <a:solidFill>
                    <a:srgbClr val="DCD7E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OOP Benefits</a:t>
              </a:r>
              <a:endParaRPr lang="en-US" sz="135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407122" y="2482007"/>
              <a:ext cx="2329681" cy="6804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100" dirty="0">
                  <a:solidFill>
                    <a:srgbClr val="DCD7E5"/>
                  </a:solidFill>
                  <a:latin typeface="Heebo Light" pitchFamily="34" charset="0"/>
                  <a:ea typeface="Heebo Light" pitchFamily="34" charset="-122"/>
                  <a:cs typeface="Heebo Light" pitchFamily="34" charset="-120"/>
                </a:rPr>
                <a:t>Encapsulation and abstraction produced clean, maintainable, and extensible code architecture.</a:t>
              </a:r>
              <a:endParaRPr lang="en-US" sz="11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25BE0AC-127C-46FF-A73D-77B98B71CA64}"/>
              </a:ext>
            </a:extLst>
          </p:cNvPr>
          <p:cNvGrpSpPr/>
          <p:nvPr/>
        </p:nvGrpSpPr>
        <p:grpSpPr>
          <a:xfrm>
            <a:off x="6025083" y="2028974"/>
            <a:ext cx="2622724" cy="1506810"/>
            <a:chOff x="6025083" y="2028974"/>
            <a:chExt cx="2622724" cy="1506810"/>
          </a:xfrm>
        </p:grpSpPr>
        <p:sp>
          <p:nvSpPr>
            <p:cNvPr id="11" name="Shape 9"/>
            <p:cNvSpPr/>
            <p:nvPr/>
          </p:nvSpPr>
          <p:spPr>
            <a:xfrm>
              <a:off x="6025083" y="2028974"/>
              <a:ext cx="2622724" cy="1506810"/>
            </a:xfrm>
            <a:prstGeom prst="roundRect">
              <a:avLst>
                <a:gd name="adj" fmla="val 3952"/>
              </a:avLst>
            </a:prstGeom>
            <a:solidFill>
              <a:srgbClr val="31136C"/>
            </a:solidFill>
            <a:ln w="4763">
              <a:solidFill>
                <a:srgbClr val="4A2C85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6171605" y="2175495"/>
              <a:ext cx="1772022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350" dirty="0">
                  <a:solidFill>
                    <a:srgbClr val="DCD7E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Learning Outcomes</a:t>
              </a:r>
              <a:endParaRPr lang="en-US" sz="135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171605" y="2482007"/>
              <a:ext cx="2329681" cy="9072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100" dirty="0">
                  <a:solidFill>
                    <a:srgbClr val="DCD7E5"/>
                  </a:solidFill>
                  <a:latin typeface="Heebo Light" pitchFamily="34" charset="0"/>
                  <a:ea typeface="Heebo Light" pitchFamily="34" charset="-122"/>
                  <a:cs typeface="Heebo Light" pitchFamily="34" charset="-120"/>
                </a:rPr>
                <a:t>Practical experience in software design, role-based systems, and structured programming methodology.</a:t>
              </a:r>
              <a:endParaRPr lang="en-US" sz="1100" dirty="0"/>
            </a:p>
          </p:txBody>
        </p:sp>
      </p:grpSp>
      <p:sp>
        <p:nvSpPr>
          <p:cNvPr id="14" name="Text 12"/>
          <p:cNvSpPr/>
          <p:nvPr/>
        </p:nvSpPr>
        <p:spPr>
          <a:xfrm>
            <a:off x="2925738" y="3748385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 </a:t>
            </a:r>
            <a:endParaRPr lang="en-US" sz="2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B9C870-9F38-4EF2-B7C9-83977F7B90D4}"/>
              </a:ext>
            </a:extLst>
          </p:cNvPr>
          <p:cNvSpPr/>
          <p:nvPr/>
        </p:nvSpPr>
        <p:spPr>
          <a:xfrm>
            <a:off x="7968591" y="4876801"/>
            <a:ext cx="1168152" cy="273957"/>
          </a:xfrm>
          <a:prstGeom prst="rect">
            <a:avLst/>
          </a:prstGeom>
          <a:solidFill>
            <a:srgbClr val="0D0B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641</Words>
  <Application>Microsoft Office PowerPoint</Application>
  <PresentationFormat>On-screen Show (16:9)</PresentationFormat>
  <Paragraphs>109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Montserrat</vt:lpstr>
      <vt:lpstr>Arial</vt:lpstr>
      <vt:lpstr>Heebo Light</vt:lpstr>
      <vt:lpstr>Consolas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Tahir Noor</cp:lastModifiedBy>
  <cp:revision>5</cp:revision>
  <dcterms:created xsi:type="dcterms:W3CDTF">2026-06-19T17:10:25Z</dcterms:created>
  <dcterms:modified xsi:type="dcterms:W3CDTF">2026-06-20T05:45:55Z</dcterms:modified>
</cp:coreProperties>
</file>